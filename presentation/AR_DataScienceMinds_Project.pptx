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ff4163c-c6f9-80e8-3334-bf66b9a8ce4e}">
          <p14:sldIdLst>
            <p14:sldId id="256"/>
            <p14:sldId id="257"/>
          </p14:sldIdLst>
        </p14:section>
        <p14:section name="Approach" id="{e00e003a-3860-37a0-ca62-f1c50e5c85c4}">
          <p14:sldIdLst>
            <p14:sldId id="258"/>
            <p14:sldId id="259"/>
          </p14:sldIdLst>
        </p14:section>
        <p14:section name="Design" id="{5a31ab6b-68bf-4ccb-545b-a59f2bb8023e}">
          <p14:sldIdLst>
            <p14:sldId id="260"/>
            <p14:sldId id="261"/>
            <p14:sldId id="262"/>
          </p14:sldIdLst>
        </p14:section>
        <p14:section name="Engineering" id="{2fdea989-9e03-06d2-2d61-eb5405744c7f}">
          <p14:sldIdLst>
            <p14:sldId id="263"/>
            <p14:sldId id="264"/>
            <p14:sldId id="265"/>
          </p14:sldIdLst>
        </p14:section>
        <p14:section name="Results" id="{f850b9cd-0a2d-16d5-da57-b1c2f366774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conversion-focused landing page for an AI consulting service, built end to end: research, copy, application and 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conversion goal drives every decision. The offer is deliberately low risk: free, no obligation, with a tangible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Single-purpose agents with file handoffs keep context clean. QA is read-only so two tools never edit the same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drove the messaging: data security, trust in accuracy and the training gap became the objections the page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follow a persuasion arc: hook, credibility, pain, answer, proof, close. Every section serves the single call-to-action.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are written into SYSTEM.md and enforced by tests, for example every call-to-action must point at the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Yellow highlights mark placeholders and unconfirmed promises that the owner must replace or confirm before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static page plus one API route keeps the system small, fast and cheap to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Defence in depth: each step rejects a different kind of bad request before anything reaches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favours small and boring: one framework, one validation library and one managed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cover structure, form, API, headers, contrast, tap targets and copy sync. The npm audit figure covers production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page is built and tested but not deployed. The remaining work needs real proof from the business and a few account-level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1148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023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AR DataScienceMinds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IS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AR DataScienceMinds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AR DataScienceMinds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Consulting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Landing Page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 DataScienceMinds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Designed for conversion, built by a pipeline of AI agents</a:t>
            </a:r>
            <a:endParaRPr lang="en-US" sz="1600" dirty="0"/>
          </a:p>
        </p:txBody>
      </p:sp>
      <p:sp>
        <p:nvSpPr>
          <p:cNvPr id="4" name="Screenshot frame"/>
          <p:cNvSpPr/>
          <p:nvPr/>
        </p:nvSpPr>
        <p:spPr>
          <a:xfrm>
            <a:off x="4800600" y="1234440"/>
            <a:ext cx="3886200" cy="2514600"/>
          </a:xfrm>
          <a:prstGeom prst="roundRect">
            <a:avLst>
              <a:gd name="adj" fmla="val 2909"/>
            </a:avLst>
          </a:prstGeom>
          <a:solidFill>
            <a:schemeClr val="accent2"/>
          </a:solidFill>
          <a:ln/>
        </p:spPr>
      </p:sp>
      <p:pic>
        <p:nvPicPr>
          <p:cNvPr id="5" name="Hero screenshot" descr="Hero section of the landing page: headline, call-to-action button and proof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25880"/>
            <a:ext cx="3703320" cy="23134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4800600" y="3840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Hero section of the live page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goal: turn visits into leads</a:t>
            </a:r>
            <a:endParaRPr lang="en-US" sz="3600" dirty="0"/>
          </a:p>
        </p:txBody>
      </p:sp>
      <p:sp>
        <p:nvSpPr>
          <p:cNvPr id="3" name="Goal circle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Goal" descr="Go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3" y="1519733"/>
            <a:ext cx="252374" cy="2523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Goal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6642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visitor clicks a call-to-action, fills a short form, and the business reaches out.</a:t>
            </a:r>
            <a:endParaRPr lang="en-US" sz="1400" dirty="0"/>
          </a:p>
        </p:txBody>
      </p:sp>
      <p:sp>
        <p:nvSpPr>
          <p:cNvPr id="7" name="Audience circle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Audience" descr="Audi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3" y="257129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404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Audience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27157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Owners of 10 to 500 person firms who bought AI tools but see no results.</a:t>
            </a:r>
            <a:endParaRPr lang="en-US" sz="1400" dirty="0"/>
          </a:p>
        </p:txBody>
      </p:sp>
      <p:sp>
        <p:nvSpPr>
          <p:cNvPr id="11" name="Offer circle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Offer" descr="Off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3" y="3622853"/>
            <a:ext cx="252374" cy="25237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Offer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37673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free AI opportunity audit: a 30-minute call plus a written summary.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669280" y="1371600"/>
            <a:ext cx="3017520" cy="310896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594360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HERO HEADLINE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943600" y="1920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AI you bought into results you can measure</a:t>
            </a:r>
            <a:endParaRPr lang="en-US" sz="2400" dirty="0"/>
          </a:p>
        </p:txBody>
      </p:sp>
      <p:sp>
        <p:nvSpPr>
          <p:cNvPr id="18" name="CTA pill"/>
          <p:cNvSpPr/>
          <p:nvPr/>
        </p:nvSpPr>
        <p:spPr>
          <a:xfrm>
            <a:off x="5943600" y="361188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03504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Get your free AI opportunity audit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five-agent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esearcher circle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Researcher" descr="Researc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1702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Researcher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01-research.md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834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Sourced market and buyer research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38528" y="2532888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48840" y="1371600"/>
            <a:ext cx="1463040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onsolidator circle"/>
          <p:cNvSpPr/>
          <p:nvPr/>
        </p:nvSpPr>
        <p:spPr>
          <a:xfrm>
            <a:off x="2606040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Consolidator" descr="Consolida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73" y="170261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4028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Consolidator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24028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02-brief.md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2834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Positioning, pains, objections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30168" y="2532888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840480" y="1371600"/>
            <a:ext cx="1463040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Copywriter circle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Copywriter" descr="Copywri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813" y="1702613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3192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Copywriter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93192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copy.json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3977640" y="2834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page text for 13 sections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321808" y="2532888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5532120" y="1371600"/>
            <a:ext cx="1463040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Builder circle"/>
          <p:cNvSpPr/>
          <p:nvPr/>
        </p:nvSpPr>
        <p:spPr>
          <a:xfrm>
            <a:off x="5989320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Builder" descr="Buil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453" y="1702613"/>
            <a:ext cx="252374" cy="25237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2356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Builder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62356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app/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2834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Next.js app and lead API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013448" y="2532888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7223760" y="1371600"/>
            <a:ext cx="1463040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QA (Codex) circle"/>
          <p:cNvSpPr/>
          <p:nvPr/>
        </p:nvSpPr>
        <p:spPr>
          <a:xfrm>
            <a:off x="7680960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QA (Codex)" descr="QA (Codex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093" y="1702613"/>
            <a:ext cx="252374" cy="25237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31520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QA (Codex)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731520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04-qa-report.md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7360920" y="2834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Read-only independent review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Each agent reads one file and writes one file, so any stage can be re-run. Claude builds and fixes; Codex only reports.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the research found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small businesses say data security holds back deeper AI use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Bluevine survey,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owners don't fully trust AI on basic tasks without oversight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Stacker / KVIA,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508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owners say they need more training to use AI properly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Thryv survey, April 2026</a:t>
            </a:r>
            <a:endParaRPr lang="en-US" sz="1100" dirty="0"/>
          </a:p>
        </p:txBody>
      </p:sp>
      <p:sp>
        <p:nvSpPr>
          <p:cNvPr id="15" name="Honesty circle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Honesty" descr="Hones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4113428"/>
            <a:ext cx="231343" cy="23134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3931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approved, cited statistics reach the page. No invented clients, testimonials or numbers.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Thirteen sections, one job each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Hook circle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Hook" descr="H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63220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Hook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75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Nav with CTA · Hero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Clear who, what, next step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redibility circle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Credibility" descr="Credi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44" y="16322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Credibility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075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Social proof bar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Data before the ask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Pain circle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Pain" descr="P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64" y="163220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Pain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075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Problem · Cost of inaction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The buyer's own words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Answer circle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Answer" descr="Answ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323844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Answer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Solution · Services · Process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4233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Find · Prove · Scale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24612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Proof circle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Proof" descr="Proo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444" y="3323844"/>
            <a:ext cx="210312" cy="2103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02336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Proof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342900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 studies · Testimonials · About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3429000" y="4233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Named results and voices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Close circle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Close" descr="Clo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364" y="3323844"/>
            <a:ext cx="210312" cy="21031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8122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Close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621792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FAQ · Final CTA and form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217920" y="4233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Answer doubts, then ask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Conversion principles</a:t>
            </a:r>
            <a:endParaRPr lang="en-US" sz="3600" dirty="0"/>
          </a:p>
        </p:txBody>
      </p:sp>
      <p:sp>
        <p:nvSpPr>
          <p:cNvPr id="3" name="One goal, one CTA circle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One goal, one CTA" descr="One goal, one C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1507388"/>
            <a:ext cx="231343" cy="2313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goal, one CTA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6276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button leads to the same form.</a:t>
            </a:r>
            <a:endParaRPr lang="en-US" sz="1400" dirty="0"/>
          </a:p>
        </p:txBody>
      </p:sp>
      <p:sp>
        <p:nvSpPr>
          <p:cNvPr id="7" name="Five-second clarity circle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Five-second clarity" descr="Five-second clar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" y="2558948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Five-second clarity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679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hero says who it is for, the outcome and the next step.</a:t>
            </a:r>
            <a:endParaRPr lang="en-US" sz="1400" dirty="0"/>
          </a:p>
        </p:txBody>
      </p:sp>
      <p:sp>
        <p:nvSpPr>
          <p:cNvPr id="11" name="Outcome over feature circle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Outcome over feature" descr="Outcome over fea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361050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447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Outcome over feature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7307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Benefits come first and jargon is explained.</a:t>
            </a:r>
            <a:endParaRPr lang="en-US" sz="1400" dirty="0"/>
          </a:p>
        </p:txBody>
      </p:sp>
      <p:sp>
        <p:nvSpPr>
          <p:cNvPr id="15" name="Proof early and often circle"/>
          <p:cNvSpPr/>
          <p:nvPr/>
        </p:nvSpPr>
        <p:spPr>
          <a:xfrm>
            <a:off x="4754880" y="13716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Proof early and often" descr="Proof early and oft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668" y="1507388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Proof early and often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0" y="16276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Cited statistics, then case studies and quotes.</a:t>
            </a:r>
            <a:endParaRPr lang="en-US" sz="1400" dirty="0"/>
          </a:p>
        </p:txBody>
      </p:sp>
      <p:sp>
        <p:nvSpPr>
          <p:cNvPr id="19" name="Remove risk circle"/>
          <p:cNvSpPr/>
          <p:nvPr/>
        </p:nvSpPr>
        <p:spPr>
          <a:xfrm>
            <a:off x="4754880" y="2423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Remove risk" descr="Remove r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0668" y="2558948"/>
            <a:ext cx="231343" cy="23134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Remove risk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0" y="2679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audit, no obligation, security answered in the FAQ.</a:t>
            </a:r>
            <a:endParaRPr lang="en-US" sz="1400" dirty="0"/>
          </a:p>
        </p:txBody>
      </p:sp>
      <p:sp>
        <p:nvSpPr>
          <p:cNvPr id="23" name="Short form circle"/>
          <p:cNvSpPr/>
          <p:nvPr/>
        </p:nvSpPr>
        <p:spPr>
          <a:xfrm>
            <a:off x="4754880" y="34747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Short form" descr="Short for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668" y="3610508"/>
            <a:ext cx="231343" cy="23134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0" y="3447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Short form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0" y="37307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required fields, two optional.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page: desktop and mobile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" y="1298448"/>
            <a:ext cx="5266944" cy="3346704"/>
          </a:xfrm>
          <a:prstGeom prst="roundRect">
            <a:avLst>
              <a:gd name="adj" fmla="val 21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Desktop screenshot" descr="Desktop hero section at 1280 pixels w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371600"/>
            <a:ext cx="51206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298448"/>
            <a:ext cx="1728216" cy="3346704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Mobile screenshot" descr="Mobile hero section at 375 pixels w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371600"/>
            <a:ext cx="1579169" cy="3200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108960" y="128016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content/copy.json: all page 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737360"/>
            <a:ext cx="0" cy="3200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21945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Browser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13-section page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Lead form, Zod checks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Hidden honeypot field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57400"/>
            <a:ext cx="219456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76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Next.js server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51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Prerendered page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POST /api/lead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CSP and security headers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057400"/>
            <a:ext cx="21945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751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Supabase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651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leads table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Row-level security 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 public access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971800"/>
            <a:ext cx="7315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66928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insert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secret key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2971800"/>
            <a:ext cx="7315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browser never talks to Supabase. The secret key stays on the server.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Inside the lead API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1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Rate limit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87168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 requests per 10 minutes per 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5980" y="137160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ep 2"/>
          <p:cNvSpPr/>
          <p:nvPr/>
        </p:nvSpPr>
        <p:spPr>
          <a:xfrm>
            <a:off x="230886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088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0886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Size cap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08860" y="2487168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Bodies over 10 KB are rejected with a 413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137160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ep 3"/>
          <p:cNvSpPr/>
          <p:nvPr/>
        </p:nvSpPr>
        <p:spPr>
          <a:xfrm>
            <a:off x="397764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77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Honeypot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487168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filled hidden field gets a fake success and a log 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63540" y="137160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ep 4"/>
          <p:cNvSpPr/>
          <p:nvPr/>
        </p:nvSpPr>
        <p:spPr>
          <a:xfrm>
            <a:off x="564642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464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464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46420" y="2487168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same Zod schema as the browser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1371600"/>
            <a:ext cx="1554480" cy="22402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5"/>
          <p:cNvSpPr/>
          <p:nvPr/>
        </p:nvSpPr>
        <p:spPr>
          <a:xfrm>
            <a:off x="731520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Store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487168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secret key writes to Supabase; failures are never hidden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9" name="Row-level security circle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Row-level security" descr="Row-level secur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4067708"/>
            <a:ext cx="231343" cy="231343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371600" y="38404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Row-level security is on with no policies, so even a leaked public key cannot read leads.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Tech stack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Choice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Next.js (App Router), TypeScript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Fast, SEO-friendly, one codebase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Styling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Tailwind CSS v4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Theme tokens in one file, easy to re-skin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Validation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schema shared by browser and server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Supabase (Postgres)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Hosted, with row-level security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Playwright, ESLint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 browser at two screen sizes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Hosting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Vercel (planned)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deployed yet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Quality and safeguards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Playwright tests passing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43200" y="1463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screen sizes tested: 375px and 1280px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regressions reintroduced to prove the tests catch them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0" y="1463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known vulnerabilities in dependencies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6" name="Safeguards circle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afeguards" descr="Safegu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3930548"/>
            <a:ext cx="231343" cy="23134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356616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Honesty gate: the production build fails while any [REPLACE] placeholder remains.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The test server blanks database keys, so tests never write real leads.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Status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4" name="Done circle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Done" descr="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" y="16445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Done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Five-agent pipeline, research to QA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13-section page with sourced copy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Secured lead API and Supabase table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52 passing tests, QA findings fixed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Exports: PDF and PNGs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9" name="Next circle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Next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28" y="16445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Fill the 40 placeholders with real proof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a live database test (blocked in this environment)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Rotate the Supabase key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Codex QA on your own machine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Deploy to Vercel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 Navy and Amber">
  <a:themeElements>
    <a:clrScheme name="AR Navy and Amber">
      <a:dk1>
        <a:srgbClr val="16213A"/>
      </a:dk1>
      <a:lt1>
        <a:srgbClr val="FFFFFF"/>
      </a:lt1>
      <a:dk2>
        <a:srgbClr val="0B1B3A"/>
      </a:dk2>
      <a:lt2>
        <a:srgbClr val="F4F6FB"/>
      </a:lt2>
      <a:accent1>
        <a:srgbClr val="F5A524"/>
      </a:accent1>
      <a:accent2>
        <a:srgbClr val="12285A"/>
      </a:accent2>
      <a:accent3>
        <a:srgbClr val="55617A"/>
      </a:accent3>
      <a:accent4>
        <a:srgbClr val="2E7D5B"/>
      </a:accent4>
      <a:accent5>
        <a:srgbClr val="B91C1C"/>
      </a:accent5>
      <a:accent6>
        <a:srgbClr val="DFE4EF"/>
      </a:accent6>
      <a:hlink>
        <a:srgbClr val="12285A"/>
      </a:hlink>
      <a:folHlink>
        <a:srgbClr val="55617A"/>
      </a:folHlink>
    </a:clrScheme>
    <a:fontScheme name="AR Navy and 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Consulting Landing Page</dc:title>
  <dc:subject>Project overview</dc:subject>
  <dc:creator>AR DataScienceMinds</dc:creator>
  <cp:lastModifiedBy>AR DataScienceMinds</cp:lastModifiedBy>
  <cp:revision>1</cp:revision>
  <dcterms:created xsi:type="dcterms:W3CDTF">2026-10-08T15:22:26Z</dcterms:created>
  <dcterms:modified xsi:type="dcterms:W3CDTF">2026-10-08T15:22:26Z</dcterms:modified>
</cp:coreProperties>
</file>